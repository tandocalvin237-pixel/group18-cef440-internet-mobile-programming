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9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03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218411" y="-1131094"/>
            <a:ext cx="4205288" cy="4205288"/>
          </a:xfrm>
          <a:prstGeom prst="ellipse">
            <a:avLst/>
          </a:prstGeom>
          <a:solidFill>
            <a:srgbClr val="ECFDF3"/>
          </a:solidFill>
          <a:ln/>
        </p:spPr>
      </p:sp>
      <p:sp>
        <p:nvSpPr>
          <p:cNvPr id="4" name="Shape 2"/>
          <p:cNvSpPr/>
          <p:nvPr/>
        </p:nvSpPr>
        <p:spPr>
          <a:xfrm>
            <a:off x="6218895" y="412366"/>
            <a:ext cx="2009775" cy="2009775"/>
          </a:xfrm>
          <a:prstGeom prst="ellipse">
            <a:avLst/>
          </a:prstGeom>
          <a:ln w="4763">
            <a:solidFill>
              <a:srgbClr val="18A34C">
                <a:alpha val="25098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8486" y="4081016"/>
            <a:ext cx="547687" cy="547687"/>
          </a:xfrm>
          <a:prstGeom prst="roundRect">
            <a:avLst>
              <a:gd name="adj" fmla="val 23374"/>
            </a:avLst>
          </a:prstGeom>
          <a:solidFill>
            <a:srgbClr val="14A74E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914884" y="2959857"/>
            <a:ext cx="3109913" cy="3109913"/>
          </a:xfrm>
          <a:prstGeom prst="ellipse">
            <a:avLst/>
          </a:prstGeom>
          <a:solidFill>
            <a:srgbClr val="ECFEF4">
              <a:alpha val="70196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13" y="360648"/>
            <a:ext cx="309562" cy="309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788" y="404143"/>
            <a:ext cx="99038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kern="0" spc="-34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370" dirty="0"/>
          </a:p>
        </p:txBody>
      </p:sp>
      <p:sp>
        <p:nvSpPr>
          <p:cNvPr id="9" name="Shape 6"/>
          <p:cNvSpPr/>
          <p:nvPr/>
        </p:nvSpPr>
        <p:spPr>
          <a:xfrm>
            <a:off x="549622" y="1803722"/>
            <a:ext cx="290513" cy="4762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923404" y="1758255"/>
            <a:ext cx="375177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290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SOFTWARE ENGINEERING PROJECT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548580" y="1903512"/>
            <a:ext cx="4762113" cy="1152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7200" b="1" kern="0" spc="-360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548580" y="3082811"/>
            <a:ext cx="4635579" cy="862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74C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 Adaptive, Network-Aware</a:t>
            </a:r>
            <a:endParaRPr lang="en-US" sz="18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74C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E-Learning Platform for</a:t>
            </a:r>
            <a:endParaRPr lang="en-US" sz="18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74C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Low-Connectivity Environments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580" y="4388495"/>
            <a:ext cx="73896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5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COURSE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548580" y="4578325"/>
            <a:ext cx="412364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CEF 440 – Internet and Mobile Programming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33850" y="4388495"/>
            <a:ext cx="16154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5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COURSE LECTURER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4133850" y="4578325"/>
            <a:ext cx="18012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Dr. Nkemeni Valery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112621" y="4649019"/>
            <a:ext cx="68478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/ 12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767475" y="-1233450"/>
            <a:ext cx="3838575" cy="3838575"/>
          </a:xfrm>
          <a:prstGeom prst="ellipse">
            <a:avLst/>
          </a:prstGeom>
          <a:solidFill>
            <a:srgbClr val="ECFDF3"/>
          </a:solidFill>
          <a:ln/>
        </p:spPr>
      </p:sp>
      <p:sp>
        <p:nvSpPr>
          <p:cNvPr id="4" name="Shape 2"/>
          <p:cNvSpPr/>
          <p:nvPr/>
        </p:nvSpPr>
        <p:spPr>
          <a:xfrm>
            <a:off x="3474690" y="4274865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A74E">
              <a:alpha val="10196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548580" y="1655415"/>
            <a:ext cx="10115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TEAM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809155"/>
            <a:ext cx="2866236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4320" b="1" kern="0" spc="-216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Group 18</a:t>
            </a:r>
            <a:endParaRPr lang="en-US" sz="4320" dirty="0"/>
          </a:p>
        </p:txBody>
      </p:sp>
      <p:sp>
        <p:nvSpPr>
          <p:cNvPr id="9" name="Shape 6"/>
          <p:cNvSpPr/>
          <p:nvPr/>
        </p:nvSpPr>
        <p:spPr>
          <a:xfrm>
            <a:off x="547613" y="2635969"/>
            <a:ext cx="276225" cy="42863"/>
          </a:xfrm>
          <a:prstGeom prst="roundRect">
            <a:avLst>
              <a:gd name="adj" fmla="val 49999"/>
            </a:avLst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896020" y="2584624"/>
            <a:ext cx="121152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Five contributors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3841514" y="823913"/>
            <a:ext cx="4752975" cy="519112"/>
          </a:xfrm>
          <a:prstGeom prst="roundRect">
            <a:avLst>
              <a:gd name="adj" fmla="val 2818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60031" y="972220"/>
            <a:ext cx="28501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Divine Jembong Tabi Ndip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7650361" y="1012031"/>
            <a:ext cx="83405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FE23A035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41514" y="1447800"/>
            <a:ext cx="4752975" cy="519112"/>
          </a:xfrm>
          <a:prstGeom prst="roundRect">
            <a:avLst>
              <a:gd name="adj" fmla="val 2818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060031" y="1596107"/>
            <a:ext cx="27279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Lena Keziah Abanda Gha</a:t>
            </a:r>
            <a:endParaRPr lang="en-US" sz="1370" dirty="0"/>
          </a:p>
        </p:txBody>
      </p:sp>
      <p:sp>
        <p:nvSpPr>
          <p:cNvPr id="16" name="Text 13"/>
          <p:cNvSpPr/>
          <p:nvPr/>
        </p:nvSpPr>
        <p:spPr>
          <a:xfrm>
            <a:off x="7673578" y="1635919"/>
            <a:ext cx="80387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FE23A081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41514" y="2071688"/>
            <a:ext cx="4752975" cy="519112"/>
          </a:xfrm>
          <a:prstGeom prst="roundRect">
            <a:avLst>
              <a:gd name="adj" fmla="val 2818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060031" y="2219995"/>
            <a:ext cx="363569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Menye Ewodo Germaine Laeticia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7653486" y="2259806"/>
            <a:ext cx="8299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FE23A092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1514" y="2695575"/>
            <a:ext cx="4752975" cy="519112"/>
          </a:xfrm>
          <a:prstGeom prst="roundRect">
            <a:avLst>
              <a:gd name="adj" fmla="val 2818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060031" y="2843882"/>
            <a:ext cx="371085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Nkongho Elizabeth Agbor-Manyo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7690842" y="2883694"/>
            <a:ext cx="78143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FE23A122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41514" y="3319463"/>
            <a:ext cx="4752975" cy="519112"/>
          </a:xfrm>
          <a:prstGeom prst="roundRect">
            <a:avLst>
              <a:gd name="adj" fmla="val 2818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060031" y="3467770"/>
            <a:ext cx="205450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Tando Calvin Nkuh</a:t>
            </a:r>
            <a:endParaRPr lang="en-US" sz="1370" dirty="0"/>
          </a:p>
        </p:txBody>
      </p:sp>
      <p:sp>
        <p:nvSpPr>
          <p:cNvPr id="25" name="Text 22"/>
          <p:cNvSpPr/>
          <p:nvPr/>
        </p:nvSpPr>
        <p:spPr>
          <a:xfrm>
            <a:off x="7688535" y="3507581"/>
            <a:ext cx="78442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FE23A159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580" y="4700439"/>
            <a:ext cx="15967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5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CEF 440 · ADAPTIS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8092827" y="4700439"/>
            <a:ext cx="71052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/ 12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35" y="2823195"/>
            <a:ext cx="3657600" cy="3657600"/>
          </a:xfrm>
          <a:prstGeom prst="ellipse">
            <a:avLst/>
          </a:prstGeom>
          <a:solidFill>
            <a:srgbClr val="ECFDF3"/>
          </a:solidFill>
          <a:ln/>
        </p:spPr>
      </p:sp>
      <p:sp>
        <p:nvSpPr>
          <p:cNvPr id="4" name="Shape 2"/>
          <p:cNvSpPr/>
          <p:nvPr/>
        </p:nvSpPr>
        <p:spPr>
          <a:xfrm>
            <a:off x="6767066" y="926232"/>
            <a:ext cx="1462088" cy="1462088"/>
          </a:xfrm>
          <a:prstGeom prst="ellipse">
            <a:avLst/>
          </a:prstGeom>
          <a:ln w="4763">
            <a:solidFill>
              <a:srgbClr val="14A54B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548580" y="1346820"/>
            <a:ext cx="31593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INTRODUCTION · BACKGROUND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525116"/>
            <a:ext cx="8271391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4030" b="1" kern="0" spc="-202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Learning that works</a:t>
            </a:r>
            <a:r>
              <a:rPr lang="en-US" sz="4030" b="1" kern="0" spc="-202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without</a:t>
            </a:r>
            <a:endParaRPr lang="en-US" sz="4030" dirty="0"/>
          </a:p>
        </p:txBody>
      </p:sp>
      <p:sp>
        <p:nvSpPr>
          <p:cNvPr id="9" name="Text 6"/>
          <p:cNvSpPr/>
          <p:nvPr/>
        </p:nvSpPr>
        <p:spPr>
          <a:xfrm>
            <a:off x="548580" y="2026890"/>
            <a:ext cx="4318084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30" b="1" kern="0" spc="-202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stable internet</a:t>
            </a:r>
            <a:endParaRPr lang="en-US" sz="4030" dirty="0"/>
          </a:p>
        </p:txBody>
      </p:sp>
      <p:sp>
        <p:nvSpPr>
          <p:cNvPr id="10" name="Shape 7"/>
          <p:cNvSpPr/>
          <p:nvPr/>
        </p:nvSpPr>
        <p:spPr>
          <a:xfrm>
            <a:off x="549027" y="3189163"/>
            <a:ext cx="3290887" cy="1357313"/>
          </a:xfrm>
          <a:prstGeom prst="roundRect">
            <a:avLst>
              <a:gd name="adj" fmla="val 10779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5180" y="3105634"/>
            <a:ext cx="166688" cy="166688"/>
          </a:xfrm>
          <a:prstGeom prst="roundRect">
            <a:avLst>
              <a:gd name="adj" fmla="val 24686"/>
            </a:avLst>
          </a:prstGeom>
          <a:solidFill>
            <a:srgbClr val="16A34A"/>
          </a:solidFill>
          <a:ln/>
        </p:spPr>
      </p:sp>
      <p:sp>
        <p:nvSpPr>
          <p:cNvPr id="12" name="Text 9"/>
          <p:cNvSpPr/>
          <p:nvPr/>
        </p:nvSpPr>
        <p:spPr>
          <a:xfrm>
            <a:off x="786259" y="3347963"/>
            <a:ext cx="3682804" cy="1034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Online learning has become essential,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but many students in Cameroon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struggle due to poor internet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connectivity and expensive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data.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115098" y="3189163"/>
            <a:ext cx="3290887" cy="1357313"/>
          </a:xfrm>
          <a:prstGeom prst="roundRect">
            <a:avLst>
              <a:gd name="adj" fmla="val 10779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51251" y="3105634"/>
            <a:ext cx="166688" cy="166688"/>
          </a:xfrm>
          <a:prstGeom prst="roundRect">
            <a:avLst>
              <a:gd name="adj" fmla="val 24686"/>
            </a:avLst>
          </a:prstGeom>
          <a:solidFill>
            <a:srgbClr val="16A24B">
              <a:alpha val="4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52330" y="3347963"/>
            <a:ext cx="3585195" cy="82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Most existing learning platforms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assume stable internet, making them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unsuitable for low-connectivity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environments.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548580" y="4700439"/>
            <a:ext cx="15967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5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CEF 440 · ADAPTIS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8091562" y="4700439"/>
            <a:ext cx="71216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/ 12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1112" y="-1029667"/>
            <a:ext cx="3476625" cy="3476625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548580" y="883890"/>
            <a:ext cx="33960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 · SOLUTION</a:t>
            </a:r>
            <a:endParaRPr lang="en-US" sz="790" dirty="0"/>
          </a:p>
        </p:txBody>
      </p:sp>
      <p:sp>
        <p:nvSpPr>
          <p:cNvPr id="7" name="Text 4"/>
          <p:cNvSpPr/>
          <p:nvPr/>
        </p:nvSpPr>
        <p:spPr>
          <a:xfrm>
            <a:off x="548580" y="1060698"/>
            <a:ext cx="3810015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3170" b="1" kern="0" spc="-79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Survey findings</a:t>
            </a:r>
            <a:endParaRPr lang="en-US" sz="3170" dirty="0"/>
          </a:p>
        </p:txBody>
      </p:sp>
      <p:sp>
        <p:nvSpPr>
          <p:cNvPr id="8" name="Shape 5"/>
          <p:cNvSpPr/>
          <p:nvPr/>
        </p:nvSpPr>
        <p:spPr>
          <a:xfrm>
            <a:off x="549027" y="1955267"/>
            <a:ext cx="2376487" cy="1362075"/>
          </a:xfrm>
          <a:prstGeom prst="roundRect">
            <a:avLst>
              <a:gd name="adj" fmla="val 1074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28" y="2023021"/>
            <a:ext cx="1835877" cy="804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kern="0" spc="-252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95%</a:t>
            </a:r>
            <a:endParaRPr lang="en-US" sz="5040" dirty="0"/>
          </a:p>
        </p:txBody>
      </p:sp>
      <p:sp>
        <p:nvSpPr>
          <p:cNvPr id="10" name="Text 7"/>
          <p:cNvSpPr/>
          <p:nvPr/>
        </p:nvSpPr>
        <p:spPr>
          <a:xfrm>
            <a:off x="768028" y="2831264"/>
            <a:ext cx="2244596" cy="32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484D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experience poor or average</a:t>
            </a:r>
            <a:endParaRPr lang="en-US" sz="1010" dirty="0"/>
          </a:p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484D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connectivity.</a:t>
            </a:r>
            <a:endParaRPr lang="en-US" sz="1010" dirty="0"/>
          </a:p>
        </p:txBody>
      </p:sp>
      <p:sp>
        <p:nvSpPr>
          <p:cNvPr id="11" name="Shape 8"/>
          <p:cNvSpPr/>
          <p:nvPr/>
        </p:nvSpPr>
        <p:spPr>
          <a:xfrm>
            <a:off x="3145854" y="1955267"/>
            <a:ext cx="2376487" cy="1362075"/>
          </a:xfrm>
          <a:prstGeom prst="roundRect">
            <a:avLst>
              <a:gd name="adj" fmla="val 1074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64855" y="2023021"/>
            <a:ext cx="1794279" cy="804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kern="0" spc="-252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97%</a:t>
            </a:r>
            <a:endParaRPr lang="en-US" sz="5040" dirty="0"/>
          </a:p>
        </p:txBody>
      </p:sp>
      <p:sp>
        <p:nvSpPr>
          <p:cNvPr id="13" name="Text 10"/>
          <p:cNvSpPr/>
          <p:nvPr/>
        </p:nvSpPr>
        <p:spPr>
          <a:xfrm>
            <a:off x="3364855" y="2831264"/>
            <a:ext cx="1601964" cy="32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484D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regularly encounter</a:t>
            </a:r>
            <a:endParaRPr lang="en-US" sz="1010" dirty="0"/>
          </a:p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484D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network problems.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5742682" y="1955267"/>
            <a:ext cx="2376487" cy="1362075"/>
          </a:xfrm>
          <a:prstGeom prst="roundRect">
            <a:avLst>
              <a:gd name="adj" fmla="val 1074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61683" y="2023021"/>
            <a:ext cx="1907463" cy="804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40" b="1" kern="0" spc="-252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90%</a:t>
            </a:r>
            <a:endParaRPr lang="en-US" sz="5040" dirty="0"/>
          </a:p>
        </p:txBody>
      </p:sp>
      <p:sp>
        <p:nvSpPr>
          <p:cNvPr id="16" name="Text 13"/>
          <p:cNvSpPr/>
          <p:nvPr/>
        </p:nvSpPr>
        <p:spPr>
          <a:xfrm>
            <a:off x="5961683" y="2831264"/>
            <a:ext cx="2403924" cy="32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484D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have abandoned a lesson due</a:t>
            </a:r>
            <a:endParaRPr lang="en-US" sz="1010" dirty="0"/>
          </a:p>
          <a:p>
            <a:pPr marL="0" indent="0" algn="l">
              <a:lnSpc>
                <a:spcPts val="1310"/>
              </a:lnSpc>
              <a:buNone/>
            </a:pPr>
            <a:r>
              <a:rPr lang="en-US" sz="1010" dirty="0">
                <a:solidFill>
                  <a:srgbClr val="484D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 poor internet.</a:t>
            </a:r>
            <a:endParaRPr lang="en-US" sz="1010" dirty="0"/>
          </a:p>
        </p:txBody>
      </p:sp>
      <p:sp>
        <p:nvSpPr>
          <p:cNvPr id="17" name="Shape 14"/>
          <p:cNvSpPr/>
          <p:nvPr/>
        </p:nvSpPr>
        <p:spPr>
          <a:xfrm>
            <a:off x="547688" y="3965823"/>
            <a:ext cx="8048625" cy="766763"/>
          </a:xfrm>
          <a:prstGeom prst="roundRect">
            <a:avLst>
              <a:gd name="adj" fmla="val 19081"/>
            </a:avLst>
          </a:prstGeom>
          <a:solidFill>
            <a:srgbClr val="16A34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871" y="4207818"/>
            <a:ext cx="1051426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b="1" kern="0" spc="238" dirty="0">
                <a:solidFill>
                  <a:srgbClr val="D0EDD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OUR</a:t>
            </a:r>
            <a:endParaRPr lang="en-US" sz="79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90" b="1" kern="0" spc="238" dirty="0">
                <a:solidFill>
                  <a:srgbClr val="D0EDD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SOLUTION</a:t>
            </a:r>
            <a:endParaRPr lang="en-US" sz="790" dirty="0"/>
          </a:p>
        </p:txBody>
      </p:sp>
      <p:sp>
        <p:nvSpPr>
          <p:cNvPr id="19" name="Shape 16"/>
          <p:cNvSpPr/>
          <p:nvPr/>
        </p:nvSpPr>
        <p:spPr>
          <a:xfrm>
            <a:off x="1769604" y="4272967"/>
            <a:ext cx="4763" cy="152400"/>
          </a:xfrm>
          <a:prstGeom prst="rect">
            <a:avLst/>
          </a:prstGeom>
          <a:solidFill>
            <a:srgbClr val="FFFFFF">
              <a:alpha val="3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956271" y="4141236"/>
            <a:ext cx="7925648" cy="40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38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 automatically adjusts lesson quality based on network conditions while</a:t>
            </a:r>
            <a:endParaRPr lang="en-US" sz="1260" dirty="0"/>
          </a:p>
          <a:p>
            <a:pPr marL="0" indent="0" algn="l">
              <a:lnSpc>
                <a:spcPts val="1638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supporting offline learning and progress synchronization.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8088213" y="4875312"/>
            <a:ext cx="7165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/ 12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45" y="-1234380"/>
            <a:ext cx="3657600" cy="3657600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26672" y="369540"/>
            <a:ext cx="157652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SDLC · PHASE 01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48580" y="1038225"/>
            <a:ext cx="28028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REQUIREMENTS &amp; ANALYSIS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215033"/>
            <a:ext cx="6762661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3310" b="1" kern="0" spc="-83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Requirements engineering</a:t>
            </a:r>
            <a:endParaRPr lang="en-US" sz="3310" dirty="0"/>
          </a:p>
        </p:txBody>
      </p:sp>
      <p:sp>
        <p:nvSpPr>
          <p:cNvPr id="9" name="Shape 6"/>
          <p:cNvSpPr/>
          <p:nvPr/>
        </p:nvSpPr>
        <p:spPr>
          <a:xfrm>
            <a:off x="548022" y="2212218"/>
            <a:ext cx="3914775" cy="657225"/>
          </a:xfrm>
          <a:prstGeom prst="roundRect">
            <a:avLst>
              <a:gd name="adj" fmla="val 2226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5775" y="2386050"/>
            <a:ext cx="309562" cy="309562"/>
          </a:xfrm>
          <a:prstGeom prst="roundRect">
            <a:avLst>
              <a:gd name="adj" fmla="val 19938"/>
            </a:avLst>
          </a:prstGeom>
          <a:solidFill>
            <a:srgbClr val="ECFD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92" y="2458566"/>
            <a:ext cx="164529" cy="1645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59384" y="2429545"/>
            <a:ext cx="36778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Agile development methodology</a:t>
            </a:r>
            <a:endParaRPr lang="en-US" sz="1370" dirty="0"/>
          </a:p>
        </p:txBody>
      </p:sp>
      <p:sp>
        <p:nvSpPr>
          <p:cNvPr id="13" name="Shape 9"/>
          <p:cNvSpPr/>
          <p:nvPr/>
        </p:nvSpPr>
        <p:spPr>
          <a:xfrm>
            <a:off x="4681165" y="2212218"/>
            <a:ext cx="3914775" cy="657225"/>
          </a:xfrm>
          <a:prstGeom prst="roundRect">
            <a:avLst>
              <a:gd name="adj" fmla="val 2226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918881" y="2386050"/>
            <a:ext cx="309562" cy="309562"/>
          </a:xfrm>
          <a:prstGeom prst="roundRect">
            <a:avLst>
              <a:gd name="adj" fmla="val 19938"/>
            </a:avLst>
          </a:prstGeom>
          <a:solidFill>
            <a:srgbClr val="ECFDF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398" y="2458566"/>
            <a:ext cx="164529" cy="1645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2489" y="2429545"/>
            <a:ext cx="28536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Survey of 59 respondents</a:t>
            </a:r>
            <a:endParaRPr lang="en-US" sz="1370" dirty="0"/>
          </a:p>
        </p:txBody>
      </p:sp>
      <p:sp>
        <p:nvSpPr>
          <p:cNvPr id="17" name="Shape 12"/>
          <p:cNvSpPr/>
          <p:nvPr/>
        </p:nvSpPr>
        <p:spPr>
          <a:xfrm>
            <a:off x="548022" y="3089151"/>
            <a:ext cx="3914775" cy="871538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5775" y="3370101"/>
            <a:ext cx="309562" cy="309562"/>
          </a:xfrm>
          <a:prstGeom prst="roundRect">
            <a:avLst>
              <a:gd name="adj" fmla="val 19938"/>
            </a:avLst>
          </a:prstGeom>
          <a:solidFill>
            <a:srgbClr val="ECFDF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92" y="3442618"/>
            <a:ext cx="164529" cy="16452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59384" y="3413671"/>
            <a:ext cx="231966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Stakeholder analysis</a:t>
            </a:r>
            <a:endParaRPr lang="en-US" sz="1370" dirty="0"/>
          </a:p>
        </p:txBody>
      </p:sp>
      <p:sp>
        <p:nvSpPr>
          <p:cNvPr id="21" name="Shape 15"/>
          <p:cNvSpPr/>
          <p:nvPr/>
        </p:nvSpPr>
        <p:spPr>
          <a:xfrm>
            <a:off x="4681165" y="3089151"/>
            <a:ext cx="3914775" cy="871538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918881" y="3370101"/>
            <a:ext cx="309562" cy="309562"/>
          </a:xfrm>
          <a:prstGeom prst="roundRect">
            <a:avLst>
              <a:gd name="adj" fmla="val 19938"/>
            </a:avLst>
          </a:prstGeom>
          <a:solidFill>
            <a:srgbClr val="ECFDF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398" y="3442618"/>
            <a:ext cx="164529" cy="1645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2489" y="3283372"/>
            <a:ext cx="3137200" cy="47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Functional &amp; non-functional</a:t>
            </a:r>
            <a:endParaRPr lang="en-US" sz="137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requirements</a:t>
            </a:r>
            <a:endParaRPr lang="en-US" sz="1370" dirty="0"/>
          </a:p>
        </p:txBody>
      </p:sp>
      <p:sp>
        <p:nvSpPr>
          <p:cNvPr id="25" name="Text 18"/>
          <p:cNvSpPr/>
          <p:nvPr/>
        </p:nvSpPr>
        <p:spPr>
          <a:xfrm>
            <a:off x="548580" y="4700439"/>
            <a:ext cx="15967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5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CEF 440 · ADAPTIS</a:t>
            </a:r>
            <a:endParaRPr lang="en-US" sz="760" dirty="0"/>
          </a:p>
        </p:txBody>
      </p:sp>
      <p:sp>
        <p:nvSpPr>
          <p:cNvPr id="26" name="Text 19"/>
          <p:cNvSpPr/>
          <p:nvPr/>
        </p:nvSpPr>
        <p:spPr>
          <a:xfrm>
            <a:off x="8091190" y="4700439"/>
            <a:ext cx="71264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/ 12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8203" y="2902223"/>
            <a:ext cx="3476625" cy="3476625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06878" y="369540"/>
            <a:ext cx="160225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SDLC · PHASE 02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48580" y="986730"/>
            <a:ext cx="312017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REQUIREMENT PRIORITIZATION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153195"/>
            <a:ext cx="5573941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3170" b="1" kern="0" spc="-79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features identified</a:t>
            </a:r>
            <a:endParaRPr lang="en-US" sz="3170" dirty="0"/>
          </a:p>
        </p:txBody>
      </p:sp>
      <p:sp>
        <p:nvSpPr>
          <p:cNvPr id="9" name="Shape 6"/>
          <p:cNvSpPr/>
          <p:nvPr/>
        </p:nvSpPr>
        <p:spPr>
          <a:xfrm>
            <a:off x="549399" y="2058367"/>
            <a:ext cx="1490663" cy="885825"/>
          </a:xfrm>
          <a:prstGeom prst="roundRect">
            <a:avLst>
              <a:gd name="adj" fmla="val 14452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80263" y="2221185"/>
            <a:ext cx="2288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508706" y="2457078"/>
            <a:ext cx="1571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Adaptive content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17027" y="2621607"/>
            <a:ext cx="7554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2187997" y="2058367"/>
            <a:ext cx="1490663" cy="885825"/>
          </a:xfrm>
          <a:prstGeom prst="roundRect">
            <a:avLst>
              <a:gd name="adj" fmla="val 14452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03866" y="2221185"/>
            <a:ext cx="25884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2238613" y="2457078"/>
            <a:ext cx="13894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Offline learning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3826632" y="2058367"/>
            <a:ext cx="1490663" cy="885825"/>
          </a:xfrm>
          <a:prstGeom prst="roundRect">
            <a:avLst>
              <a:gd name="adj" fmla="val 14452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41474" y="2221185"/>
            <a:ext cx="26097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4086746" y="2457078"/>
            <a:ext cx="9703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Automatic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3857949" y="2621607"/>
            <a:ext cx="14280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progress saving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465266" y="2058367"/>
            <a:ext cx="1490663" cy="885825"/>
          </a:xfrm>
          <a:prstGeom prst="roundRect">
            <a:avLst>
              <a:gd name="adj" fmla="val 14452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76771" y="2221185"/>
            <a:ext cx="2676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5874793" y="2457078"/>
            <a:ext cx="671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Secure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5545980" y="2621607"/>
            <a:ext cx="1329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authentication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7103901" y="2058367"/>
            <a:ext cx="1490663" cy="885825"/>
          </a:xfrm>
          <a:prstGeom prst="roundRect">
            <a:avLst>
              <a:gd name="adj" fmla="val 14452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18454" y="2221185"/>
            <a:ext cx="26155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940" dirty="0"/>
          </a:p>
        </p:txBody>
      </p:sp>
      <p:sp>
        <p:nvSpPr>
          <p:cNvPr id="26" name="Text 23"/>
          <p:cNvSpPr/>
          <p:nvPr/>
        </p:nvSpPr>
        <p:spPr>
          <a:xfrm>
            <a:off x="7298416" y="2457078"/>
            <a:ext cx="11016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Mobile-first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7526912" y="2621607"/>
            <a:ext cx="6446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567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47688" y="4190591"/>
            <a:ext cx="8048625" cy="490537"/>
          </a:xfrm>
          <a:prstGeom prst="roundRect">
            <a:avLst>
              <a:gd name="adj" fmla="val 26097"/>
            </a:avLst>
          </a:prstGeom>
          <a:solidFill>
            <a:srgbClr val="EDFDF3">
              <a:alpha val="60000"/>
            </a:srgbClr>
          </a:solidFill>
          <a:ln w="4763">
            <a:solidFill>
              <a:srgbClr val="16A24B">
                <a:alpha val="40000"/>
              </a:srgbClr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791021" y="4373389"/>
            <a:ext cx="15323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PRIORITIZATION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2108597" y="4359659"/>
            <a:ext cx="4763" cy="152400"/>
          </a:xfrm>
          <a:prstGeom prst="rect">
            <a:avLst/>
          </a:prstGeom>
          <a:solidFill>
            <a:srgbClr val="18A34C">
              <a:alpha val="25098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2296195" y="4343846"/>
            <a:ext cx="449308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MoSCoW technique — Must, Should, Could, Won't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8092529" y="4854773"/>
            <a:ext cx="7109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/ 12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948488" y="-1132508"/>
            <a:ext cx="3476625" cy="3476625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05687" y="369540"/>
            <a:ext cx="160380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SDLC · PHASE 03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48580" y="935310"/>
            <a:ext cx="16312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DESIGN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111300"/>
            <a:ext cx="4639255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880" b="1" kern="0" spc="-72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 &amp; stack</a:t>
            </a:r>
            <a:endParaRPr lang="en-US" sz="2880" dirty="0"/>
          </a:p>
        </p:txBody>
      </p:sp>
      <p:sp>
        <p:nvSpPr>
          <p:cNvPr id="9" name="Text 6"/>
          <p:cNvSpPr/>
          <p:nvPr/>
        </p:nvSpPr>
        <p:spPr>
          <a:xfrm>
            <a:off x="548580" y="1660103"/>
            <a:ext cx="4457387" cy="334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01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modular architecture pairing an adaptive mobile client</a:t>
            </a:r>
            <a:endParaRPr lang="en-US" sz="1010" dirty="0"/>
          </a:p>
          <a:p>
            <a:pPr marL="0" indent="0" algn="l">
              <a:lnSpc>
                <a:spcPts val="1361"/>
              </a:lnSpc>
              <a:buNone/>
            </a:pPr>
            <a:r>
              <a:rPr lang="en-US" sz="101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with a scalable backend and flexible data layer.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548580" y="2675669"/>
            <a:ext cx="36576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416" y="2834953"/>
            <a:ext cx="75144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66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1517749" y="2828069"/>
            <a:ext cx="4763" cy="152400"/>
          </a:xfrm>
          <a:prstGeom prst="rect">
            <a:avLst/>
          </a:prstGeom>
          <a:solidFill>
            <a:srgbClr val="E6EBE8"/>
          </a:solidFill>
          <a:ln/>
        </p:spPr>
      </p:sp>
      <p:sp>
        <p:nvSpPr>
          <p:cNvPr id="13" name="Text 10"/>
          <p:cNvSpPr/>
          <p:nvPr/>
        </p:nvSpPr>
        <p:spPr>
          <a:xfrm>
            <a:off x="1668810" y="2801987"/>
            <a:ext cx="71119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Flutter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548580" y="3227598"/>
            <a:ext cx="36576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416" y="3386882"/>
            <a:ext cx="4544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66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1517749" y="3379998"/>
            <a:ext cx="4763" cy="152400"/>
          </a:xfrm>
          <a:prstGeom prst="rect">
            <a:avLst/>
          </a:prstGeom>
          <a:solidFill>
            <a:srgbClr val="E6EBE8"/>
          </a:solidFill>
          <a:ln/>
        </p:spPr>
      </p:sp>
      <p:sp>
        <p:nvSpPr>
          <p:cNvPr id="17" name="Text 14"/>
          <p:cNvSpPr/>
          <p:nvPr/>
        </p:nvSpPr>
        <p:spPr>
          <a:xfrm>
            <a:off x="1668810" y="3353916"/>
            <a:ext cx="86220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React.js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548580" y="3779527"/>
            <a:ext cx="36576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416" y="3938811"/>
            <a:ext cx="9186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66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1517749" y="3931927"/>
            <a:ext cx="4763" cy="152400"/>
          </a:xfrm>
          <a:prstGeom prst="rect">
            <a:avLst/>
          </a:prstGeom>
          <a:solidFill>
            <a:srgbClr val="E6EBE8"/>
          </a:solidFill>
          <a:ln/>
        </p:spPr>
      </p:sp>
      <p:sp>
        <p:nvSpPr>
          <p:cNvPr id="21" name="Text 18"/>
          <p:cNvSpPr/>
          <p:nvPr/>
        </p:nvSpPr>
        <p:spPr>
          <a:xfrm>
            <a:off x="1668810" y="3905845"/>
            <a:ext cx="82902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Node.js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548580" y="4331457"/>
            <a:ext cx="36576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1416" y="4490740"/>
            <a:ext cx="9882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66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1517749" y="4483857"/>
            <a:ext cx="4763" cy="152400"/>
          </a:xfrm>
          <a:prstGeom prst="rect">
            <a:avLst/>
          </a:prstGeom>
          <a:solidFill>
            <a:srgbClr val="E6EBE8"/>
          </a:solidFill>
          <a:ln/>
        </p:spPr>
      </p:sp>
      <p:sp>
        <p:nvSpPr>
          <p:cNvPr id="25" name="Text 22"/>
          <p:cNvSpPr/>
          <p:nvPr/>
        </p:nvSpPr>
        <p:spPr>
          <a:xfrm>
            <a:off x="1668810" y="4457774"/>
            <a:ext cx="10414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MongoDB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4389686" y="1029630"/>
            <a:ext cx="4205288" cy="3495675"/>
          </a:xfrm>
          <a:prstGeom prst="roundRect">
            <a:avLst>
              <a:gd name="adj" fmla="val 4708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17A34A">
                <a:alpha val="34902"/>
              </a:srgbClr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6311354" y="2329086"/>
            <a:ext cx="361950" cy="361950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58" y="2417490"/>
            <a:ext cx="185142" cy="18514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80732" y="2807196"/>
            <a:ext cx="294730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2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Architecture Diagram</a:t>
            </a:r>
            <a:endParaRPr lang="en-US" sz="1220" dirty="0"/>
          </a:p>
        </p:txBody>
      </p:sp>
      <p:sp>
        <p:nvSpPr>
          <p:cNvPr id="30" name="Text 26"/>
          <p:cNvSpPr/>
          <p:nvPr/>
        </p:nvSpPr>
        <p:spPr>
          <a:xfrm>
            <a:off x="5599881" y="3076649"/>
            <a:ext cx="237751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83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Place the architecture diagram here</a:t>
            </a:r>
            <a:endParaRPr lang="en-US" sz="830" dirty="0"/>
          </a:p>
        </p:txBody>
      </p:sp>
      <p:sp>
        <p:nvSpPr>
          <p:cNvPr id="31" name="Text 27"/>
          <p:cNvSpPr/>
          <p:nvPr/>
        </p:nvSpPr>
        <p:spPr>
          <a:xfrm>
            <a:off x="8097069" y="4803353"/>
            <a:ext cx="70500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/ 12</a:t>
            </a:r>
            <a:endParaRPr lang="en-US" sz="76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BEA3A16-DA2D-4D4E-B8EB-446F3FAC4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677" y="961098"/>
            <a:ext cx="5110159" cy="34067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765578" y="2902223"/>
            <a:ext cx="3476625" cy="3476625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05687" y="369540"/>
            <a:ext cx="160380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SDLC · PHASE 03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48580" y="935310"/>
            <a:ext cx="255464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UML &amp; DATABASE DESIGN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111300"/>
            <a:ext cx="4675436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880" b="1" kern="0" spc="-72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Modeling the system</a:t>
            </a:r>
            <a:endParaRPr lang="en-US" sz="2880" dirty="0"/>
          </a:p>
        </p:txBody>
      </p:sp>
      <p:sp>
        <p:nvSpPr>
          <p:cNvPr id="9" name="Text 6"/>
          <p:cNvSpPr/>
          <p:nvPr/>
        </p:nvSpPr>
        <p:spPr>
          <a:xfrm>
            <a:off x="548580" y="1660103"/>
            <a:ext cx="4402924" cy="334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1"/>
              </a:lnSpc>
              <a:buNone/>
            </a:pPr>
            <a:r>
              <a:rPr lang="en-US" sz="101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Behavior and structure captured through standard UML</a:t>
            </a:r>
            <a:endParaRPr lang="en-US" sz="1010" dirty="0"/>
          </a:p>
          <a:p>
            <a:pPr marL="0" indent="0" algn="l">
              <a:lnSpc>
                <a:spcPts val="1361"/>
              </a:lnSpc>
              <a:buNone/>
            </a:pPr>
            <a:r>
              <a:rPr lang="en-US" sz="101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diagrams and a relational data model.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548580" y="2572010"/>
            <a:ext cx="3657600" cy="414338"/>
          </a:xfrm>
          <a:prstGeom prst="roundRect">
            <a:avLst>
              <a:gd name="adj" fmla="val 26483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370" y="2743460"/>
            <a:ext cx="71438" cy="7143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9"/>
          <p:cNvSpPr/>
          <p:nvPr/>
        </p:nvSpPr>
        <p:spPr>
          <a:xfrm>
            <a:off x="913061" y="2683743"/>
            <a:ext cx="16824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diagram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580" y="3069096"/>
            <a:ext cx="3657600" cy="414338"/>
          </a:xfrm>
          <a:prstGeom prst="roundRect">
            <a:avLst>
              <a:gd name="adj" fmla="val 26483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370" y="3240546"/>
            <a:ext cx="71438" cy="7143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913061" y="3180829"/>
            <a:ext cx="135924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 diagram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580" y="3566182"/>
            <a:ext cx="3657600" cy="414338"/>
          </a:xfrm>
          <a:prstGeom prst="roundRect">
            <a:avLst>
              <a:gd name="adj" fmla="val 26483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13370" y="3737632"/>
            <a:ext cx="71438" cy="7143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5"/>
          <p:cNvSpPr/>
          <p:nvPr/>
        </p:nvSpPr>
        <p:spPr>
          <a:xfrm>
            <a:off x="913061" y="3677915"/>
            <a:ext cx="179950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Sequence diagram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580" y="4063268"/>
            <a:ext cx="3657600" cy="414338"/>
          </a:xfrm>
          <a:prstGeom prst="roundRect">
            <a:avLst>
              <a:gd name="adj" fmla="val 26483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370" y="4234718"/>
            <a:ext cx="71438" cy="7143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913061" y="4175001"/>
            <a:ext cx="15775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Activity diagram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580" y="4560354"/>
            <a:ext cx="3657600" cy="414338"/>
          </a:xfrm>
          <a:prstGeom prst="roundRect">
            <a:avLst>
              <a:gd name="adj" fmla="val 26483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370" y="4731804"/>
            <a:ext cx="71438" cy="7143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1"/>
          <p:cNvSpPr/>
          <p:nvPr/>
        </p:nvSpPr>
        <p:spPr>
          <a:xfrm>
            <a:off x="913061" y="4672087"/>
            <a:ext cx="299373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Entity Relationship (ER) diagram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89686" y="1029630"/>
            <a:ext cx="4205288" cy="3495675"/>
          </a:xfrm>
          <a:prstGeom prst="roundRect">
            <a:avLst>
              <a:gd name="adj" fmla="val 4708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17A34A">
                <a:alpha val="34902"/>
              </a:srgbClr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6311354" y="2329086"/>
            <a:ext cx="361950" cy="361950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58" y="2417490"/>
            <a:ext cx="185142" cy="18514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827886" y="2807196"/>
            <a:ext cx="178460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2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UML / ER Diagram</a:t>
            </a:r>
            <a:endParaRPr lang="en-US" sz="1220" dirty="0"/>
          </a:p>
        </p:txBody>
      </p:sp>
      <p:sp>
        <p:nvSpPr>
          <p:cNvPr id="29" name="Text 25"/>
          <p:cNvSpPr/>
          <p:nvPr/>
        </p:nvSpPr>
        <p:spPr>
          <a:xfrm>
            <a:off x="5566842" y="3076649"/>
            <a:ext cx="24633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83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Place UML &amp; database diagrams here</a:t>
            </a:r>
            <a:endParaRPr lang="en-US" sz="830" dirty="0"/>
          </a:p>
        </p:txBody>
      </p:sp>
      <p:sp>
        <p:nvSpPr>
          <p:cNvPr id="30" name="Text 26"/>
          <p:cNvSpPr/>
          <p:nvPr/>
        </p:nvSpPr>
        <p:spPr>
          <a:xfrm>
            <a:off x="8089627" y="4803353"/>
            <a:ext cx="71468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/ 12</a:t>
            </a:r>
            <a:endParaRPr lang="en-US" sz="76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19041E3-28A4-47CE-B0E2-08EFD9F925C1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49990" y="1157121"/>
            <a:ext cx="4097573" cy="3203618"/>
          </a:xfrm>
          <a:prstGeom prst="roundRect">
            <a:avLst>
              <a:gd name="adj" fmla="val 3731"/>
            </a:avLst>
          </a:prstGeom>
          <a:solidFill>
            <a:srgbClr val="FFFFFF">
              <a:shade val="85000"/>
            </a:srgb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1112" y="-1132508"/>
            <a:ext cx="3476625" cy="3476625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02264" y="369540"/>
            <a:ext cx="160825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SDLC · PHASE 04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48580" y="986730"/>
            <a:ext cx="31999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· MOBILE APP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162720"/>
            <a:ext cx="4491246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3020" b="1" kern="0" spc="-76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Adaptis mobile</a:t>
            </a:r>
            <a:endParaRPr lang="en-US" sz="3020" dirty="0"/>
          </a:p>
        </p:txBody>
      </p:sp>
      <p:sp>
        <p:nvSpPr>
          <p:cNvPr id="9" name="Text 6"/>
          <p:cNvSpPr/>
          <p:nvPr/>
        </p:nvSpPr>
        <p:spPr>
          <a:xfrm>
            <a:off x="548580" y="1554435"/>
            <a:ext cx="98264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3020" b="1" kern="0" spc="-76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</a:t>
            </a:r>
            <a:endParaRPr lang="en-US" sz="3020" dirty="0"/>
          </a:p>
        </p:txBody>
      </p:sp>
      <p:sp>
        <p:nvSpPr>
          <p:cNvPr id="10" name="Shape 7"/>
          <p:cNvSpPr/>
          <p:nvPr/>
        </p:nvSpPr>
        <p:spPr>
          <a:xfrm>
            <a:off x="548097" y="2159347"/>
            <a:ext cx="4024312" cy="557213"/>
          </a:xfrm>
          <a:prstGeom prst="roundRect">
            <a:avLst>
              <a:gd name="adj" fmla="val 2297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0838" y="2295079"/>
            <a:ext cx="285750" cy="285750"/>
          </a:xfrm>
          <a:prstGeom prst="roundRect">
            <a:avLst>
              <a:gd name="adj" fmla="val 18000"/>
            </a:avLst>
          </a:prstGeom>
          <a:solidFill>
            <a:srgbClr val="ECFDF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46" y="2360786"/>
            <a:ext cx="154260" cy="1542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4002" y="2336974"/>
            <a:ext cx="272722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Adaptive lesson streaming</a:t>
            </a:r>
            <a:endParaRPr lang="en-US" sz="1260" dirty="0"/>
          </a:p>
        </p:txBody>
      </p:sp>
      <p:sp>
        <p:nvSpPr>
          <p:cNvPr id="14" name="Shape 10"/>
          <p:cNvSpPr/>
          <p:nvPr/>
        </p:nvSpPr>
        <p:spPr>
          <a:xfrm>
            <a:off x="548097" y="2807345"/>
            <a:ext cx="4024312" cy="557213"/>
          </a:xfrm>
          <a:prstGeom prst="roundRect">
            <a:avLst>
              <a:gd name="adj" fmla="val 2297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0838" y="2943076"/>
            <a:ext cx="285750" cy="285750"/>
          </a:xfrm>
          <a:prstGeom prst="roundRect">
            <a:avLst>
              <a:gd name="adj" fmla="val 18000"/>
            </a:avLst>
          </a:prstGeom>
          <a:solidFill>
            <a:srgbClr val="ECFD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46" y="3008784"/>
            <a:ext cx="154260" cy="1542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4002" y="2984971"/>
            <a:ext cx="23564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Offline content access</a:t>
            </a:r>
            <a:endParaRPr lang="en-US" sz="1260" dirty="0"/>
          </a:p>
        </p:txBody>
      </p:sp>
      <p:sp>
        <p:nvSpPr>
          <p:cNvPr id="18" name="Shape 13"/>
          <p:cNvSpPr/>
          <p:nvPr/>
        </p:nvSpPr>
        <p:spPr>
          <a:xfrm>
            <a:off x="548097" y="3455343"/>
            <a:ext cx="4024312" cy="557213"/>
          </a:xfrm>
          <a:prstGeom prst="roundRect">
            <a:avLst>
              <a:gd name="adj" fmla="val 2297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50838" y="3591074"/>
            <a:ext cx="285750" cy="285750"/>
          </a:xfrm>
          <a:prstGeom prst="roundRect">
            <a:avLst>
              <a:gd name="adj" fmla="val 18000"/>
            </a:avLst>
          </a:prstGeom>
          <a:solidFill>
            <a:srgbClr val="ECFDF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46" y="3656781"/>
            <a:ext cx="154260" cy="1542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4002" y="3632969"/>
            <a:ext cx="37073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Automatic progress synchronization</a:t>
            </a:r>
            <a:endParaRPr lang="en-US" sz="1260" dirty="0"/>
          </a:p>
        </p:txBody>
      </p:sp>
      <p:sp>
        <p:nvSpPr>
          <p:cNvPr id="22" name="Shape 16"/>
          <p:cNvSpPr/>
          <p:nvPr/>
        </p:nvSpPr>
        <p:spPr>
          <a:xfrm>
            <a:off x="548097" y="4103340"/>
            <a:ext cx="4024312" cy="557213"/>
          </a:xfrm>
          <a:prstGeom prst="roundRect">
            <a:avLst>
              <a:gd name="adj" fmla="val 22974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50838" y="4239071"/>
            <a:ext cx="285750" cy="285750"/>
          </a:xfrm>
          <a:prstGeom prst="roundRect">
            <a:avLst>
              <a:gd name="adj" fmla="val 18000"/>
            </a:avLst>
          </a:prstGeom>
          <a:solidFill>
            <a:srgbClr val="ECFDF3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46" y="4304779"/>
            <a:ext cx="154260" cy="1542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4002" y="4280967"/>
            <a:ext cx="30501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Clean, user-friendly interface</a:t>
            </a:r>
            <a:endParaRPr lang="en-US" sz="1260" dirty="0"/>
          </a:p>
        </p:txBody>
      </p:sp>
      <p:sp>
        <p:nvSpPr>
          <p:cNvPr id="26" name="Shape 19"/>
          <p:cNvSpPr/>
          <p:nvPr/>
        </p:nvSpPr>
        <p:spPr>
          <a:xfrm>
            <a:off x="5761286" y="823392"/>
            <a:ext cx="2376487" cy="3805237"/>
          </a:xfrm>
          <a:prstGeom prst="roundRect">
            <a:avLst>
              <a:gd name="adj" fmla="val 11543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17A34A">
                <a:alpha val="34902"/>
              </a:srgbClr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6768554" y="2318817"/>
            <a:ext cx="361950" cy="361950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6958" y="2407221"/>
            <a:ext cx="185142" cy="18514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908878" y="2777877"/>
            <a:ext cx="20813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810"/>
              </a:spcBef>
              <a:buNone/>
            </a:pPr>
            <a:r>
              <a:rPr lang="en-US" sz="108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App Screenshot</a:t>
            </a:r>
            <a:endParaRPr lang="en-US" sz="1080" dirty="0"/>
          </a:p>
        </p:txBody>
      </p:sp>
      <p:sp>
        <p:nvSpPr>
          <p:cNvPr id="30" name="Text 22"/>
          <p:cNvSpPr/>
          <p:nvPr/>
        </p:nvSpPr>
        <p:spPr>
          <a:xfrm>
            <a:off x="6020526" y="2997771"/>
            <a:ext cx="185793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324"/>
              </a:spcBef>
              <a:buNone/>
            </a:pPr>
            <a:r>
              <a:rPr lang="en-US" sz="76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Place the app screenshot here</a:t>
            </a:r>
            <a:endParaRPr lang="en-US" sz="760" dirty="0"/>
          </a:p>
        </p:txBody>
      </p:sp>
      <p:sp>
        <p:nvSpPr>
          <p:cNvPr id="31" name="Text 23"/>
          <p:cNvSpPr/>
          <p:nvPr/>
        </p:nvSpPr>
        <p:spPr>
          <a:xfrm>
            <a:off x="8092529" y="4803353"/>
            <a:ext cx="7109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/ 12</a:t>
            </a:r>
            <a:endParaRPr lang="en-US" sz="76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BD092A8-CC45-4285-B190-6C921D3C80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1575" y="514871"/>
            <a:ext cx="2953259" cy="44298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901" y="3086546"/>
            <a:ext cx="3290887" cy="3290887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02264" y="369540"/>
            <a:ext cx="160825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SDLC · PHASE 04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48580" y="883890"/>
            <a:ext cx="35189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· WEB PLATFORM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059879"/>
            <a:ext cx="606169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3020" b="1" kern="0" spc="-76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Two portals, one platform</a:t>
            </a:r>
            <a:endParaRPr lang="en-US" sz="3020" dirty="0"/>
          </a:p>
        </p:txBody>
      </p:sp>
      <p:sp>
        <p:nvSpPr>
          <p:cNvPr id="9" name="Shape 6"/>
          <p:cNvSpPr/>
          <p:nvPr/>
        </p:nvSpPr>
        <p:spPr>
          <a:xfrm>
            <a:off x="548618" y="1953592"/>
            <a:ext cx="3886200" cy="2919412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772" y="2174677"/>
            <a:ext cx="276225" cy="276225"/>
          </a:xfrm>
          <a:prstGeom prst="roundRect">
            <a:avLst>
              <a:gd name="adj" fmla="val 18621"/>
            </a:avLst>
          </a:prstGeom>
          <a:solidFill>
            <a:srgbClr val="ECFD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7" y="2235622"/>
            <a:ext cx="154260" cy="1542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5427" y="2194620"/>
            <a:ext cx="172404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Teacher Portal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767916" y="2640025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0"/>
          <p:cNvSpPr/>
          <p:nvPr/>
        </p:nvSpPr>
        <p:spPr>
          <a:xfrm>
            <a:off x="921097" y="2589312"/>
            <a:ext cx="127198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101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Upload lessons</a:t>
            </a:r>
            <a:endParaRPr lang="en-US" sz="1010" dirty="0"/>
          </a:p>
        </p:txBody>
      </p:sp>
      <p:sp>
        <p:nvSpPr>
          <p:cNvPr id="15" name="Shape 11"/>
          <p:cNvSpPr/>
          <p:nvPr/>
        </p:nvSpPr>
        <p:spPr>
          <a:xfrm>
            <a:off x="767916" y="2903972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2"/>
          <p:cNvSpPr/>
          <p:nvPr/>
        </p:nvSpPr>
        <p:spPr>
          <a:xfrm>
            <a:off x="921097" y="2853258"/>
            <a:ext cx="136156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101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 content</a:t>
            </a:r>
            <a:endParaRPr lang="en-US" sz="1010" dirty="0"/>
          </a:p>
        </p:txBody>
      </p:sp>
      <p:sp>
        <p:nvSpPr>
          <p:cNvPr id="17" name="Shape 13"/>
          <p:cNvSpPr/>
          <p:nvPr/>
        </p:nvSpPr>
        <p:spPr>
          <a:xfrm>
            <a:off x="767916" y="3167918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4"/>
          <p:cNvSpPr/>
          <p:nvPr/>
        </p:nvSpPr>
        <p:spPr>
          <a:xfrm>
            <a:off x="921097" y="3117205"/>
            <a:ext cx="12183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Track students</a:t>
            </a:r>
            <a:endParaRPr lang="en-US" sz="1010" dirty="0"/>
          </a:p>
        </p:txBody>
      </p:sp>
      <p:sp>
        <p:nvSpPr>
          <p:cNvPr id="19" name="Shape 15"/>
          <p:cNvSpPr/>
          <p:nvPr/>
        </p:nvSpPr>
        <p:spPr>
          <a:xfrm>
            <a:off x="767693" y="3418731"/>
            <a:ext cx="3448050" cy="1233488"/>
          </a:xfrm>
          <a:prstGeom prst="roundRect">
            <a:avLst>
              <a:gd name="adj" fmla="val 8896"/>
            </a:avLst>
          </a:prstGeom>
          <a:solidFill>
            <a:srgbClr val="F9FBF9">
              <a:alpha val="70196"/>
            </a:srgbClr>
          </a:solidFill>
          <a:ln w="9525">
            <a:solidFill>
              <a:srgbClr val="17A34A">
                <a:alpha val="34902"/>
              </a:srgbClr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1853878" y="3880024"/>
            <a:ext cx="17155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 Screenshot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837730" y="4077519"/>
            <a:ext cx="175742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72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Place teacher dashboard here</a:t>
            </a:r>
            <a:endParaRPr lang="en-US" sz="720" dirty="0"/>
          </a:p>
        </p:txBody>
      </p:sp>
      <p:sp>
        <p:nvSpPr>
          <p:cNvPr id="22" name="Shape 18"/>
          <p:cNvSpPr/>
          <p:nvPr/>
        </p:nvSpPr>
        <p:spPr>
          <a:xfrm>
            <a:off x="4709182" y="1953592"/>
            <a:ext cx="3886200" cy="2919412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929336" y="2174677"/>
            <a:ext cx="276225" cy="276225"/>
          </a:xfrm>
          <a:prstGeom prst="roundRect">
            <a:avLst>
              <a:gd name="adj" fmla="val 18621"/>
            </a:avLst>
          </a:prstGeom>
          <a:solidFill>
            <a:srgbClr val="ECFDF3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281" y="2235622"/>
            <a:ext cx="154260" cy="1542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15992" y="2194620"/>
            <a:ext cx="1555336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Portal</a:t>
            </a:r>
            <a:endParaRPr lang="en-US" sz="1440" dirty="0"/>
          </a:p>
        </p:txBody>
      </p:sp>
      <p:sp>
        <p:nvSpPr>
          <p:cNvPr id="26" name="Shape 21"/>
          <p:cNvSpPr/>
          <p:nvPr/>
        </p:nvSpPr>
        <p:spPr>
          <a:xfrm>
            <a:off x="4928481" y="2640025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2"/>
          <p:cNvSpPr/>
          <p:nvPr/>
        </p:nvSpPr>
        <p:spPr>
          <a:xfrm>
            <a:off x="5081662" y="2589312"/>
            <a:ext cx="115483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101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 users</a:t>
            </a:r>
            <a:endParaRPr lang="en-US" sz="1010" dirty="0"/>
          </a:p>
        </p:txBody>
      </p:sp>
      <p:sp>
        <p:nvSpPr>
          <p:cNvPr id="28" name="Shape 23"/>
          <p:cNvSpPr/>
          <p:nvPr/>
        </p:nvSpPr>
        <p:spPr>
          <a:xfrm>
            <a:off x="4928481" y="2903972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4"/>
          <p:cNvSpPr/>
          <p:nvPr/>
        </p:nvSpPr>
        <p:spPr>
          <a:xfrm>
            <a:off x="5081662" y="2853258"/>
            <a:ext cx="207646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67"/>
              </a:spcAft>
              <a:buNone/>
            </a:pPr>
            <a:r>
              <a:rPr lang="en-US" sz="101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Oversee platform activity</a:t>
            </a:r>
            <a:endParaRPr lang="en-US" sz="1010" dirty="0"/>
          </a:p>
        </p:txBody>
      </p:sp>
      <p:sp>
        <p:nvSpPr>
          <p:cNvPr id="30" name="Shape 25"/>
          <p:cNvSpPr/>
          <p:nvPr/>
        </p:nvSpPr>
        <p:spPr>
          <a:xfrm>
            <a:off x="4928481" y="3167918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6"/>
          <p:cNvSpPr/>
          <p:nvPr/>
        </p:nvSpPr>
        <p:spPr>
          <a:xfrm>
            <a:off x="5081662" y="3117205"/>
            <a:ext cx="16433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3C41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governance</a:t>
            </a:r>
            <a:endParaRPr lang="en-US" sz="1010" dirty="0"/>
          </a:p>
        </p:txBody>
      </p:sp>
      <p:sp>
        <p:nvSpPr>
          <p:cNvPr id="32" name="Shape 27"/>
          <p:cNvSpPr/>
          <p:nvPr/>
        </p:nvSpPr>
        <p:spPr>
          <a:xfrm>
            <a:off x="4928257" y="3418731"/>
            <a:ext cx="3448050" cy="1233488"/>
          </a:xfrm>
          <a:prstGeom prst="roundRect">
            <a:avLst>
              <a:gd name="adj" fmla="val 8896"/>
            </a:avLst>
          </a:prstGeom>
          <a:solidFill>
            <a:srgbClr val="F9FBF9">
              <a:alpha val="70196"/>
            </a:srgbClr>
          </a:solidFill>
          <a:ln w="9525">
            <a:solidFill>
              <a:srgbClr val="17A34A">
                <a:alpha val="34902"/>
              </a:srgbClr>
            </a:solidFill>
            <a:prstDash val="dash"/>
          </a:ln>
        </p:spPr>
      </p:sp>
      <p:sp>
        <p:nvSpPr>
          <p:cNvPr id="33" name="Text 28"/>
          <p:cNvSpPr/>
          <p:nvPr/>
        </p:nvSpPr>
        <p:spPr>
          <a:xfrm>
            <a:off x="6014442" y="3880024"/>
            <a:ext cx="17155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 Screenshot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031929" y="4077519"/>
            <a:ext cx="16700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720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Place admin dashboard here</a:t>
            </a:r>
            <a:endParaRPr lang="en-US" sz="720" dirty="0"/>
          </a:p>
        </p:txBody>
      </p:sp>
      <p:sp>
        <p:nvSpPr>
          <p:cNvPr id="35" name="Text 30"/>
          <p:cNvSpPr/>
          <p:nvPr/>
        </p:nvSpPr>
        <p:spPr>
          <a:xfrm>
            <a:off x="8112621" y="4854773"/>
            <a:ext cx="68478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12</a:t>
            </a:r>
            <a:endParaRPr lang="en-US" sz="76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4E21155-03D3-42EF-BBB6-A3400D24D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5908" y="3392322"/>
            <a:ext cx="3148734" cy="1426769"/>
          </a:xfrm>
          <a:prstGeom prst="roundRect">
            <a:avLst>
              <a:gd name="adj" fmla="val 5531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03080E0-38DF-4B31-A7E0-46E822FCEF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78" y="3418593"/>
            <a:ext cx="3106342" cy="1409179"/>
          </a:xfrm>
          <a:prstGeom prst="roundRect">
            <a:avLst>
              <a:gd name="adj" fmla="val 4749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948488" y="-1132508"/>
            <a:ext cx="3476625" cy="3476625"/>
          </a:xfrm>
          <a:prstGeom prst="ellipse">
            <a:avLst/>
          </a:prstGeom>
          <a:solidFill>
            <a:srgbClr val="ECFD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7405241" y="369540"/>
            <a:ext cx="160438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1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SDLC · PHASE 05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548580" y="935310"/>
            <a:ext cx="20142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TESTING &amp; RESULTS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548580" y="1111300"/>
            <a:ext cx="5342349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3020" b="1" kern="0" spc="-76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Validation &amp; outcomes</a:t>
            </a:r>
            <a:endParaRPr lang="en-US" sz="3020" dirty="0"/>
          </a:p>
        </p:txBody>
      </p:sp>
      <p:sp>
        <p:nvSpPr>
          <p:cNvPr id="9" name="Text 6"/>
          <p:cNvSpPr/>
          <p:nvPr/>
        </p:nvSpPr>
        <p:spPr>
          <a:xfrm>
            <a:off x="548580" y="2066925"/>
            <a:ext cx="191046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TESTING APPROACH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547985" y="2317328"/>
            <a:ext cx="1857375" cy="371475"/>
          </a:xfrm>
          <a:prstGeom prst="roundRect">
            <a:avLst>
              <a:gd name="adj" fmla="val 27077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767" y="2472072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9"/>
          <p:cNvSpPr/>
          <p:nvPr/>
        </p:nvSpPr>
        <p:spPr>
          <a:xfrm>
            <a:off x="847948" y="2420020"/>
            <a:ext cx="9550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Unit testing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2532199" y="2317328"/>
            <a:ext cx="1857375" cy="371475"/>
          </a:xfrm>
          <a:prstGeom prst="roundRect">
            <a:avLst>
              <a:gd name="adj" fmla="val 27077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78943" y="2472072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2832125" y="2420020"/>
            <a:ext cx="150396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Integration testing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547985" y="2815605"/>
            <a:ext cx="1857375" cy="371475"/>
          </a:xfrm>
          <a:prstGeom prst="roundRect">
            <a:avLst>
              <a:gd name="adj" fmla="val 27077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767" y="2970349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5"/>
          <p:cNvSpPr/>
          <p:nvPr/>
        </p:nvSpPr>
        <p:spPr>
          <a:xfrm>
            <a:off x="847948" y="2918296"/>
            <a:ext cx="123010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testing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2532199" y="2815605"/>
            <a:ext cx="1857375" cy="371475"/>
          </a:xfrm>
          <a:prstGeom prst="roundRect">
            <a:avLst>
              <a:gd name="adj" fmla="val 27077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678943" y="2970349"/>
            <a:ext cx="61912" cy="61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2832125" y="2918296"/>
            <a:ext cx="131803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Usability testing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4754984" y="2066925"/>
            <a:ext cx="8545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RESULTS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4755914" y="2318147"/>
            <a:ext cx="3838575" cy="671513"/>
          </a:xfrm>
          <a:prstGeom prst="roundRect">
            <a:avLst>
              <a:gd name="adj" fmla="val 17702"/>
            </a:avLst>
          </a:prstGeom>
          <a:solidFill>
            <a:srgbClr val="16A34A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820" y="2576736"/>
            <a:ext cx="154260" cy="1542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20072" y="2455590"/>
            <a:ext cx="3619634" cy="393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Reliable performance in low-bandwidth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conditions</a:t>
            </a:r>
            <a:endParaRPr lang="en-US" sz="1120" dirty="0"/>
          </a:p>
        </p:txBody>
      </p:sp>
      <p:sp>
        <p:nvSpPr>
          <p:cNvPr id="26" name="Shape 22"/>
          <p:cNvSpPr/>
          <p:nvPr/>
        </p:nvSpPr>
        <p:spPr>
          <a:xfrm>
            <a:off x="4755914" y="3073189"/>
            <a:ext cx="3838575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820" y="3224659"/>
            <a:ext cx="154260" cy="1542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20072" y="3209776"/>
            <a:ext cx="242820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Smooth offline experience</a:t>
            </a:r>
            <a:endParaRPr lang="en-US" sz="1120" dirty="0"/>
          </a:p>
        </p:txBody>
      </p:sp>
      <p:sp>
        <p:nvSpPr>
          <p:cNvPr id="29" name="Shape 24"/>
          <p:cNvSpPr/>
          <p:nvPr/>
        </p:nvSpPr>
        <p:spPr>
          <a:xfrm>
            <a:off x="4755914" y="3614775"/>
            <a:ext cx="3838575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820" y="3766245"/>
            <a:ext cx="154260" cy="1542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20072" y="3751362"/>
            <a:ext cx="209291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Positive user feedback</a:t>
            </a:r>
            <a:endParaRPr lang="en-US" sz="1120" dirty="0"/>
          </a:p>
        </p:txBody>
      </p:sp>
      <p:sp>
        <p:nvSpPr>
          <p:cNvPr id="32" name="Text 26"/>
          <p:cNvSpPr/>
          <p:nvPr/>
        </p:nvSpPr>
        <p:spPr>
          <a:xfrm>
            <a:off x="548580" y="4700439"/>
            <a:ext cx="15967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5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CEF 440 · ADAPTIS</a:t>
            </a:r>
            <a:endParaRPr lang="en-US" sz="760" dirty="0"/>
          </a:p>
        </p:txBody>
      </p:sp>
      <p:sp>
        <p:nvSpPr>
          <p:cNvPr id="33" name="Text 27"/>
          <p:cNvSpPr/>
          <p:nvPr/>
        </p:nvSpPr>
        <p:spPr>
          <a:xfrm>
            <a:off x="8143726" y="4700439"/>
            <a:ext cx="64435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/ 12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A"/>
          </a:solidFill>
          <a:ln/>
        </p:spPr>
      </p:sp>
      <p:sp>
        <p:nvSpPr>
          <p:cNvPr id="3" name="Shape 1"/>
          <p:cNvSpPr/>
          <p:nvPr/>
        </p:nvSpPr>
        <p:spPr>
          <a:xfrm>
            <a:off x="6218411" y="-1131094"/>
            <a:ext cx="4205288" cy="4205288"/>
          </a:xfrm>
          <a:prstGeom prst="ellipse">
            <a:avLst/>
          </a:prstGeom>
          <a:solidFill>
            <a:srgbClr val="ECFDF3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65" y="514350"/>
            <a:ext cx="1828800" cy="1828800"/>
          </a:xfrm>
          <a:prstGeom prst="ellipse">
            <a:avLst/>
          </a:prstGeom>
          <a:ln w="4763">
            <a:solidFill>
              <a:srgbClr val="14A54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3470" y="3144180"/>
            <a:ext cx="2924175" cy="2924175"/>
          </a:xfrm>
          <a:prstGeom prst="ellipse">
            <a:avLst/>
          </a:prstGeom>
          <a:solidFill>
            <a:srgbClr val="ECFEF4">
              <a:alpha val="70196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13" y="359048"/>
            <a:ext cx="276225" cy="2762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098" y="394841"/>
            <a:ext cx="89200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-3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548580" y="1038225"/>
            <a:ext cx="3051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253" dirty="0">
                <a:solidFill>
                  <a:srgbClr val="16A3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 &amp; FUTURE WORK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548580" y="1230064"/>
            <a:ext cx="316003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310" b="1" kern="0" spc="-83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Bridging the</a:t>
            </a:r>
            <a:endParaRPr lang="en-US" sz="3310" dirty="0"/>
          </a:p>
        </p:txBody>
      </p:sp>
      <p:sp>
        <p:nvSpPr>
          <p:cNvPr id="10" name="Text 7"/>
          <p:cNvSpPr/>
          <p:nvPr/>
        </p:nvSpPr>
        <p:spPr>
          <a:xfrm>
            <a:off x="548580" y="1659062"/>
            <a:ext cx="438318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310" b="1" kern="0" spc="-83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connectivity gap</a:t>
            </a:r>
            <a:endParaRPr lang="en-US" sz="3310" dirty="0"/>
          </a:p>
        </p:txBody>
      </p:sp>
      <p:sp>
        <p:nvSpPr>
          <p:cNvPr id="11" name="Text 8"/>
          <p:cNvSpPr/>
          <p:nvPr/>
        </p:nvSpPr>
        <p:spPr>
          <a:xfrm>
            <a:off x="548580" y="2299469"/>
            <a:ext cx="5363632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474C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Adaptis addresses a real challenge faced by students in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474C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low-connectivity environments, making digital learning</a:t>
            </a:r>
            <a:endParaRPr lang="en-US" sz="1220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220" dirty="0">
                <a:solidFill>
                  <a:srgbClr val="474C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more accessible and reliable.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47613" y="3208958"/>
            <a:ext cx="276225" cy="4762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251" y="3144217"/>
            <a:ext cx="927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5803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119762" y="1028923"/>
            <a:ext cx="3476625" cy="2266950"/>
          </a:xfrm>
          <a:prstGeom prst="roundRect">
            <a:avLst>
              <a:gd name="adj" fmla="val 7261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E6EBE8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76714" y="1294209"/>
            <a:ext cx="137433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82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FUTURE WORK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5447109" y="1599233"/>
            <a:ext cx="11470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5671542" y="1580034"/>
            <a:ext cx="285520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AI-powered recommendations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5436543" y="1914674"/>
            <a:ext cx="14228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5671542" y="1895475"/>
            <a:ext cx="30864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Support for more content formats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5435724" y="2230115"/>
            <a:ext cx="14431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5671542" y="2210916"/>
            <a:ext cx="219380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Multi-language support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5433417" y="2545556"/>
            <a:ext cx="15040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5671542" y="2526357"/>
            <a:ext cx="17677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Improved analytics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5435501" y="2860997"/>
            <a:ext cx="14489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5803D"/>
                </a:solidFill>
                <a:highlight>
                  <a:srgbClr val="ECFDF3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5671542" y="2841799"/>
            <a:ext cx="173072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A20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Wider deployment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548580" y="4700439"/>
            <a:ext cx="159674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51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CEF 440 · ADAPTIS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8123932" y="4700439"/>
            <a:ext cx="67008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227" dirty="0">
                <a:solidFill>
                  <a:srgbClr val="6B72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/ 12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546</Words>
  <Application>Microsoft Office PowerPoint</Application>
  <PresentationFormat>On-screen Show (16:9)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3</cp:revision>
  <dcterms:created xsi:type="dcterms:W3CDTF">2026-07-04T01:53:40Z</dcterms:created>
  <dcterms:modified xsi:type="dcterms:W3CDTF">2026-07-04T02:10:06Z</dcterms:modified>
</cp:coreProperties>
</file>